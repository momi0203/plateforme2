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822960"/>
            <a:ext cx="2286000" cy="1828800"/>
          </a:xfrm>
          <a:prstGeom prst="roundRect">
            <a:avLst>
              <a:gd name="adj" fmla="val 12000"/>
            </a:avLst>
          </a:prstGeom>
          <a:solidFill>
            <a:srgbClr val="2A2A44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0" y="1143000"/>
            <a:ext cx="640080" cy="82296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 i="0">
                <a:solidFill>
                  <a:srgbClr val="1A1A2E"/>
                </a:solidFill>
                <a:latin typeface="Inter"/>
              </a:rPr>
              <a:t>HydroPlan SIG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Inter"/>
              </a:rPr>
              <a:t>Plateforme Web SIG  -  Gestion hydraulique &amp; agricole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6063" y="493776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DIAGNOSTIC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0895" y="493776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ANALYSE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5727" y="493776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CARTE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0559" y="493776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DIMENSIONNEMENT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5391" y="493776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F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PLAN D'ACTION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D989"/>
                </a:solidFill>
                <a:latin typeface="Inter"/>
              </a:rPr>
              <a:t>Office Régional de Mise en Valeur Agricole du Tafilalet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Projet de Fin d'Etudes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Principe général de la plateforme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Données terrain  →  Traitement SIG  →  Décision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Oval 10"/>
          <p:cNvSpPr/>
          <p:nvPr/>
        </p:nvSpPr>
        <p:spPr>
          <a:xfrm>
            <a:off x="1249527" y="1691640"/>
            <a:ext cx="731520" cy="73152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887" y="16916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887" y="21945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000" bIns="60000"/>
          <a:lstStyle/>
          <a:p>
            <a:pPr algn="ctr"/>
            <a:r>
              <a:rPr b="1" sz="1400">
                <a:solidFill>
                  <a:srgbClr val="3498DB"/>
                </a:solidFill>
                <a:latin typeface="Inter"/>
              </a:rPr>
              <a:t>Terrain</a:t>
            </a:r>
          </a:p>
          <a:p>
            <a:pPr algn="ctr"/>
            <a:r>
              <a:rPr sz="1100">
                <a:solidFill>
                  <a:srgbClr val="1A1A2E"/>
                </a:solidFill>
                <a:latin typeface="Inter"/>
              </a:rPr>
              <a:t>Ouvrages
hydrauliques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9687" y="2880360.0"/>
            <a:ext cx="411480" cy="0.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89807" y="1691640"/>
            <a:ext cx="731520" cy="7315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1167" y="16916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1167" y="21945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000" bIns="60000"/>
          <a:lstStyle/>
          <a:p>
            <a:pPr algn="ctr"/>
            <a:r>
              <a:rPr b="1" sz="1400">
                <a:solidFill>
                  <a:srgbClr val="F0A500"/>
                </a:solidFill>
                <a:latin typeface="Inter"/>
              </a:rPr>
              <a:t>Saisie</a:t>
            </a:r>
          </a:p>
          <a:p>
            <a:pPr algn="ctr"/>
            <a:r>
              <a:rPr sz="1100">
                <a:solidFill>
                  <a:srgbClr val="1A1A2E"/>
                </a:solidFill>
                <a:latin typeface="Inter"/>
              </a:rPr>
              <a:t>Diagnostic
&amp; mesures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69967" y="2880360.0"/>
            <a:ext cx="411480" cy="0.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730087" y="1691640"/>
            <a:ext cx="731520" cy="731520"/>
          </a:xfrm>
          <a:prstGeom prst="ellipse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47" y="16916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1447" y="21945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000" bIns="60000"/>
          <a:lstStyle/>
          <a:p>
            <a:pPr algn="ctr"/>
            <a:r>
              <a:rPr b="1" sz="1400">
                <a:solidFill>
                  <a:srgbClr val="2A2A44"/>
                </a:solidFill>
                <a:latin typeface="Inter"/>
              </a:rPr>
              <a:t>Calcul</a:t>
            </a:r>
          </a:p>
          <a:p>
            <a:pPr algn="ctr"/>
            <a:r>
              <a:rPr sz="1100">
                <a:solidFill>
                  <a:srgbClr val="1A1A2E"/>
                </a:solidFill>
                <a:latin typeface="Inter"/>
              </a:rPr>
              <a:t>Analyse SIG
&amp; métier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0247" y="2880360.0"/>
            <a:ext cx="411480" cy="0.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70367" y="169164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1727" y="16916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1727" y="21945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000" bIns="60000"/>
          <a:lstStyle/>
          <a:p>
            <a:pPr algn="ctr"/>
            <a:r>
              <a:rPr b="1" sz="1400">
                <a:solidFill>
                  <a:srgbClr val="27AE60"/>
                </a:solidFill>
                <a:latin typeface="Inter"/>
              </a:rPr>
              <a:t>Carte</a:t>
            </a:r>
          </a:p>
          <a:p>
            <a:pPr algn="ctr"/>
            <a:r>
              <a:rPr sz="1100">
                <a:solidFill>
                  <a:srgbClr val="1A1A2E"/>
                </a:solidFill>
                <a:latin typeface="Inter"/>
              </a:rPr>
              <a:t>Visualisation
dynamique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50527" y="2880360.0"/>
            <a:ext cx="411480" cy="0.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10647" y="1691640"/>
            <a:ext cx="731520" cy="73152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2007" y="16916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2007" y="21945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000" bIns="60000"/>
          <a:lstStyle/>
          <a:p>
            <a:pPr algn="ctr"/>
            <a:r>
              <a:rPr b="1" sz="1400">
                <a:solidFill>
                  <a:srgbClr val="E74C3C"/>
                </a:solidFill>
                <a:latin typeface="Inter"/>
              </a:rPr>
              <a:t>Décision</a:t>
            </a:r>
          </a:p>
          <a:p>
            <a:pPr algn="ctr"/>
            <a:r>
              <a:rPr sz="1100">
                <a:solidFill>
                  <a:srgbClr val="1A1A2E"/>
                </a:solidFill>
                <a:latin typeface="Inter"/>
              </a:rPr>
              <a:t>Plan
d'action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15287.0" y="4206240"/>
            <a:ext cx="8961120.0" cy="0"/>
          </a:xfrm>
          <a:prstGeom prst="line">
            <a:avLst/>
          </a:prstGeom>
          <a:ln w="19050">
            <a:solidFill>
              <a:srgbClr val="F0A5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D4920A"/>
                </a:solidFill>
                <a:latin typeface="Inter"/>
              </a:rPr>
              <a:t>Cycle continu : suivi &amp; mise à jour permanents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047" y="5029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Centraliser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5029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Cartographier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807" y="5029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Décider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Stack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Django  -  GeoDjango  -  PostgreSQL / PostGIS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8686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Inter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Inter"/>
              </a:rPr>
              <a:t>HTML5 / CSS3 / JS  -  Leaflet.js  -  Chart.js</a:t>
            </a:r>
          </a:p>
        </p:txBody>
      </p:sp>
      <p:sp>
        <p:nvSpPr>
          <p:cNvPr id="14" name="Oval 13"/>
          <p:cNvSpPr/>
          <p:nvPr/>
        </p:nvSpPr>
        <p:spPr>
          <a:xfrm>
            <a:off x="-45720" y="1618488"/>
            <a:ext cx="365760" cy="36576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-45720" y="1618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686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Inter"/>
              </a:rP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Inter"/>
              </a:rPr>
              <a:t>Django  -  Vues / Formulaires / Templates</a:t>
            </a:r>
          </a:p>
        </p:txBody>
      </p:sp>
      <p:sp>
        <p:nvSpPr>
          <p:cNvPr id="19" name="Oval 18"/>
          <p:cNvSpPr/>
          <p:nvPr/>
        </p:nvSpPr>
        <p:spPr>
          <a:xfrm>
            <a:off x="-45720" y="2624328"/>
            <a:ext cx="365760" cy="36576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45720" y="2624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8686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98DB"/>
                </a:solidFill>
                <a:latin typeface="Inter"/>
              </a:rPr>
              <a:t>METIER (GIS)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Inter"/>
              </a:rPr>
              <a:t>GeoDjango  -  GDAL / GEOS  -  Calculs hydrauliques</a:t>
            </a:r>
          </a:p>
        </p:txBody>
      </p:sp>
      <p:sp>
        <p:nvSpPr>
          <p:cNvPr id="24" name="Oval 23"/>
          <p:cNvSpPr/>
          <p:nvPr/>
        </p:nvSpPr>
        <p:spPr>
          <a:xfrm>
            <a:off x="-45720" y="3630168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-45720" y="3630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8686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Inter"/>
              </a:rPr>
              <a:t>DONNEES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006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Inter"/>
              </a:rPr>
              <a:t>PostgreSQL  +  PostGIS (géométries)</a:t>
            </a:r>
          </a:p>
        </p:txBody>
      </p:sp>
      <p:sp>
        <p:nvSpPr>
          <p:cNvPr id="29" name="Oval 28"/>
          <p:cNvSpPr/>
          <p:nvPr/>
        </p:nvSpPr>
        <p:spPr>
          <a:xfrm>
            <a:off x="-45720" y="4636008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-45720" y="46360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00600.0" y="2240280"/>
            <a:ext cx="0.0" cy="137160"/>
          </a:xfrm>
          <a:prstGeom prst="line">
            <a:avLst/>
          </a:prstGeom>
          <a:ln w="25400">
            <a:solidFill>
              <a:srgbClr val="D4920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00600.0" y="3246120"/>
            <a:ext cx="0.0" cy="137160"/>
          </a:xfrm>
          <a:prstGeom prst="line">
            <a:avLst/>
          </a:prstGeom>
          <a:ln w="25400">
            <a:solidFill>
              <a:srgbClr val="D4920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00600.0" y="4251960"/>
            <a:ext cx="0.0" cy="137160"/>
          </a:xfrm>
          <a:prstGeom prst="line">
            <a:avLst/>
          </a:prstGeom>
          <a:ln w="25400">
            <a:solidFill>
              <a:srgbClr val="D4920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09760" y="1371600"/>
            <a:ext cx="2331720" cy="3886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4630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TECHNOS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19202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19202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Python 3.x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23774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FF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3774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Django 4+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28346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28346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GeoDjango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32918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32918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PostgreSQL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37490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37490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PostGIS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38360" y="42062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FF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60" y="42062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Leaflet.js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0" y="4663440"/>
            <a:ext cx="1874520" cy="36576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6634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GDAL / GEOS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Inter"/>
              </a:rPr>
              <a:t>Flux des données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71903" y="58978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Navigateur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72103" y="58978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HTTP / AJAX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89423" y="58978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Django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9623" y="58978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ORM spatial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06943" y="58978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PostGIS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Types d'utilisateurs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3 rôles  -  3 niveaux d'accès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927" y="219456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0927" y="2194560"/>
            <a:ext cx="3108960" cy="77724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09647" y="1828800"/>
            <a:ext cx="731520" cy="731520"/>
          </a:xfrm>
          <a:prstGeom prst="ellipse">
            <a:avLst/>
          </a:prstGeom>
          <a:solidFill>
            <a:srgbClr val="1A1A2E"/>
          </a:solidFill>
          <a:ln w="381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1828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A500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2240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VISITEUR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31089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Inter"/>
              </a:rPr>
              <a:t>Consultation
seule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927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927" y="372160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Carte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2719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2719" y="372160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Diagnostic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511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4511" y="372160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Analyse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6303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6303" y="372160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Dimens.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8095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8095" y="372160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Plan d'action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1367" y="201168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41367" y="2011680"/>
            <a:ext cx="3108960" cy="7772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30087" y="1645920"/>
            <a:ext cx="731520" cy="731520"/>
          </a:xfrm>
          <a:prstGeom prst="ellipse">
            <a:avLst/>
          </a:prstGeom>
          <a:solidFill>
            <a:srgbClr val="1A1A2E"/>
          </a:solidFill>
          <a:ln w="381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1367" y="16459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A500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1367" y="2057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ÉDITEUR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367" y="2926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Inter"/>
              </a:rPr>
              <a:t>Diagnostic
+ Analyse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1367" y="361188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1367" y="390448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Carte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3159" y="361188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3159" y="390448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Diagnostic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4951" y="361188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84951" y="390448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Analyse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743" y="361188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6743" y="390448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Dimens.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8535" y="361188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B6B80"/>
                </a:solidFill>
                <a:latin typeface="Inter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8535" y="390448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Plan d'action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1807" y="1828800"/>
            <a:ext cx="31089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1807" y="1828800"/>
            <a:ext cx="3108960" cy="7772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50527" y="1463040"/>
            <a:ext cx="731520" cy="731520"/>
          </a:xfrm>
          <a:prstGeom prst="ellipse">
            <a:avLst/>
          </a:prstGeom>
          <a:solidFill>
            <a:srgbClr val="1A1A2E"/>
          </a:solidFill>
          <a:ln w="381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1807" y="1463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A500"/>
                </a:solidFill>
                <a:latin typeface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1807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OPÉRATEUR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1807" y="27432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Inter"/>
              </a:rPr>
              <a:t>Tous les droits
+ Décision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1807" y="379476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1807" y="408736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Carte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3599" y="379476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3599" y="408736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Diagnostic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5391" y="379476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5391" y="408736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Analyse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183" y="379476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183" y="408736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Dimens.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48975" y="379476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48975" y="4087368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80"/>
                </a:solidFill>
                <a:latin typeface="Inter"/>
              </a:rPr>
              <a:t>Plan d'action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1">
                <a:solidFill>
                  <a:srgbClr val="D4920A"/>
                </a:solidFill>
                <a:latin typeface="Inter"/>
              </a:rPr>
              <a:t>Niveau d'accès croissant  →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71600" y="5577840"/>
            <a:ext cx="9418320" cy="0"/>
          </a:xfrm>
          <a:prstGeom prst="line">
            <a:avLst/>
          </a:prstGeom>
          <a:ln w="3810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114800" y="58978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9050">
            <a:solidFill>
              <a:srgbClr val="D49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0">
                <a:solidFill>
                  <a:srgbClr val="1A1A2E"/>
                </a:solidFill>
                <a:latin typeface="Inter"/>
              </a:rPr>
              <a:t>Accueil &amp; Carte publique : accessibles à tous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App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Création des périmètres  -  Suivi &amp; évaluation des ouvrages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PÉRIMÈTRE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03120"/>
            <a:ext cx="2286000" cy="1463040"/>
          </a:xfrm>
          <a:prstGeom prst="ellipse">
            <a:avLst/>
          </a:prstGeom>
          <a:solidFill>
            <a:srgbClr val="FFF8EE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" y="229514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9384" y="238658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275234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03704" y="293522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" y="302666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5064" y="3118104"/>
            <a:ext cx="164592" cy="164592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834640" y="2743200"/>
            <a:ext cx="82296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49039" y="1371600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1371600"/>
            <a:ext cx="960120" cy="132588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1371600"/>
            <a:ext cx="9601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Ouvrages
de tête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19" y="1691640"/>
            <a:ext cx="32004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Barrage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799" y="1691640"/>
            <a:ext cx="32004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Seuil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79" y="1691640"/>
            <a:ext cx="32004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Forage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59" y="1691640"/>
            <a:ext cx="32004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Khettara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2834640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2834640"/>
            <a:ext cx="960120" cy="132588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2834640"/>
            <a:ext cx="9601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Réseau
d'irrigation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19" y="315468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Séguia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59" y="315468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Prise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599" y="315468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Mur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4297680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4297680"/>
            <a:ext cx="960120" cy="13258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4297680"/>
            <a:ext cx="9601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Périmètre
irrigué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19" y="4617720"/>
            <a:ext cx="73152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Parcelles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79" y="4617720"/>
            <a:ext cx="731520" cy="68580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Assolement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2743200"/>
            <a:ext cx="82296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98079" y="1371600"/>
            <a:ext cx="429768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1371600"/>
            <a:ext cx="429768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13716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DIAGNOSTIC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057400"/>
            <a:ext cx="22860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2057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État physique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B6B80"/>
                </a:solidFill>
                <a:latin typeface="Inter"/>
              </a:rPr>
              <a:t>Bon / Moyen / Mauvais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2606040"/>
            <a:ext cx="228600" cy="4572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Fonctionnement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B6B80"/>
                </a:solidFill>
                <a:latin typeface="Inter"/>
              </a:rPr>
              <a:t>Opérationnel / Dégradé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54680"/>
            <a:ext cx="228600" cy="457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Pathologies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B6B80"/>
                </a:solidFill>
                <a:latin typeface="Inter"/>
              </a:rPr>
              <a:t>Fissures, érosion...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3703320"/>
            <a:ext cx="228600" cy="4572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Photos &amp; relevés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B6B80"/>
                </a:solidFill>
                <a:latin typeface="Inter"/>
              </a:rPr>
              <a:t>Documentation terrain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4251960"/>
            <a:ext cx="2286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4251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Score global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251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B6B80"/>
                </a:solidFill>
                <a:latin typeface="Inter"/>
              </a:rPr>
              <a:t>Note de l'ouvrage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349240"/>
            <a:ext cx="11338560" cy="9144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34924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  <a:latin typeface="Inter"/>
              </a:rPr>
              <a:t>WORKFLOW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0927" y="57150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Création
périmètre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941167" y="5943600"/>
            <a:ext cx="13716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078327" y="57150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Saisie
ouvrages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98567" y="5943600"/>
            <a:ext cx="13716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135727" y="57150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Diagnostic
terrain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55967" y="5943600"/>
            <a:ext cx="13716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193127" y="57150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Mise à jour
données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113367" y="5943600"/>
            <a:ext cx="13716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9250527" y="57150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Suivi
&amp; évaluation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Apps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Analyse hydrologique  -  Bilan ressources  -  Efficience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847" y="132588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847" y="1325880"/>
            <a:ext cx="3657600" cy="100584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9447" y="15087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498DB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0967" y="1463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ANALYSE
HYDROLOGIQUE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727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Pluies / Débits
Stations  -  BV</a:t>
            </a:r>
          </a:p>
        </p:txBody>
      </p:sp>
      <p:sp>
        <p:nvSpPr>
          <p:cNvPr id="17" name="Oval 16"/>
          <p:cNvSpPr/>
          <p:nvPr/>
        </p:nvSpPr>
        <p:spPr>
          <a:xfrm>
            <a:off x="646023" y="3255264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207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Pluies 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207" y="33832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T = 10, 50, 100 ans</a:t>
            </a:r>
          </a:p>
        </p:txBody>
      </p:sp>
      <p:sp>
        <p:nvSpPr>
          <p:cNvPr id="20" name="Oval 19"/>
          <p:cNvSpPr/>
          <p:nvPr/>
        </p:nvSpPr>
        <p:spPr>
          <a:xfrm>
            <a:off x="646023" y="3895344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207" y="3794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Débits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207" y="402336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Q de pointe</a:t>
            </a:r>
          </a:p>
        </p:txBody>
      </p:sp>
      <p:sp>
        <p:nvSpPr>
          <p:cNvPr id="23" name="Oval 22"/>
          <p:cNvSpPr/>
          <p:nvPr/>
        </p:nvSpPr>
        <p:spPr>
          <a:xfrm>
            <a:off x="646023" y="4535424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07" y="4434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Bassins versants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07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Régionalisation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047" y="132588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047" y="1325880"/>
            <a:ext cx="3657600" cy="10058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95647" y="15087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5647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7167" y="1463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BILAN DES
RESSOURCES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9927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Besoins en eau
Assolement</a:t>
            </a:r>
          </a:p>
        </p:txBody>
      </p:sp>
      <p:sp>
        <p:nvSpPr>
          <p:cNvPr id="32" name="Oval 31"/>
          <p:cNvSpPr/>
          <p:nvPr/>
        </p:nvSpPr>
        <p:spPr>
          <a:xfrm>
            <a:off x="4532223" y="325526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1407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Cultures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1407" y="33832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Kc / Kr</a:t>
            </a:r>
          </a:p>
        </p:txBody>
      </p:sp>
      <p:sp>
        <p:nvSpPr>
          <p:cNvPr id="35" name="Oval 34"/>
          <p:cNvSpPr/>
          <p:nvPr/>
        </p:nvSpPr>
        <p:spPr>
          <a:xfrm>
            <a:off x="4532223" y="389534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1407" y="3794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ET₀ / ETM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1407" y="402336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Climat</a:t>
            </a:r>
          </a:p>
        </p:txBody>
      </p:sp>
      <p:sp>
        <p:nvSpPr>
          <p:cNvPr id="38" name="Oval 37"/>
          <p:cNvSpPr/>
          <p:nvPr/>
        </p:nvSpPr>
        <p:spPr>
          <a:xfrm>
            <a:off x="4532223" y="453542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1407" y="4434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Bilan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1407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Offre vs Demande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3247" y="132588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53247" y="1325880"/>
            <a:ext cx="3657600" cy="10058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81847" y="15087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1847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0A500"/>
                </a:solidFill>
                <a:latin typeface="Inter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3367" y="1463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EFFICIENCE
RÉSEAU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6127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Pertes / Rendement
Canaux</a:t>
            </a:r>
          </a:p>
        </p:txBody>
      </p:sp>
      <p:sp>
        <p:nvSpPr>
          <p:cNvPr id="47" name="Oval 46"/>
          <p:cNvSpPr/>
          <p:nvPr/>
        </p:nvSpPr>
        <p:spPr>
          <a:xfrm>
            <a:off x="8418423" y="3255264"/>
            <a:ext cx="201168" cy="20116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47607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Débits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7607" y="33832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Mesures</a:t>
            </a:r>
          </a:p>
        </p:txBody>
      </p:sp>
      <p:sp>
        <p:nvSpPr>
          <p:cNvPr id="50" name="Oval 49"/>
          <p:cNvSpPr/>
          <p:nvPr/>
        </p:nvSpPr>
        <p:spPr>
          <a:xfrm>
            <a:off x="8418423" y="3895344"/>
            <a:ext cx="201168" cy="20116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7607" y="3794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Pertes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7607" y="402336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Infiltration</a:t>
            </a:r>
          </a:p>
        </p:txBody>
      </p:sp>
      <p:sp>
        <p:nvSpPr>
          <p:cNvPr id="53" name="Oval 52"/>
          <p:cNvSpPr/>
          <p:nvPr/>
        </p:nvSpPr>
        <p:spPr>
          <a:xfrm>
            <a:off x="8418423" y="4535424"/>
            <a:ext cx="201168" cy="20116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47607" y="4434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Rendement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7607" y="46634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% du réseau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1">
                <a:solidFill>
                  <a:srgbClr val="D4920A"/>
                </a:solidFill>
                <a:latin typeface="Inter"/>
              </a:rPr>
              <a:t>Toutes les apps métier s'appuient sur les données du Diagnostic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0" y="608076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Diagnostic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657600" y="6281928"/>
            <a:ext cx="914400" cy="0"/>
          </a:xfrm>
          <a:prstGeom prst="line">
            <a:avLst/>
          </a:prstGeom>
          <a:ln w="2540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572000" y="6080760"/>
            <a:ext cx="3017520" cy="4114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Apps métier (calcul)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89520" y="6281928"/>
            <a:ext cx="914400" cy="0"/>
          </a:xfrm>
          <a:prstGeom prst="line">
            <a:avLst/>
          </a:prstGeom>
          <a:ln w="2540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503920" y="608076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Résultats / Carte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Carte dynamique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Visualisation interactive  -  Couches  -  Requêtes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6858000" cy="4572000"/>
          </a:xfrm>
          <a:prstGeom prst="rect">
            <a:avLst/>
          </a:prstGeom>
          <a:solidFill>
            <a:srgbClr val="FFF8EE"/>
          </a:solidFill>
          <a:ln w="254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1430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146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862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578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.0" y="1280160"/>
            <a:ext cx="0.0" cy="457200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" y="1933302.8571428573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" y="2586445.7142857146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" y="3239588.5714285714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" y="3892731.4285714286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" y="4545874.285714285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" y="5199017.142857143"/>
            <a:ext cx="6858000" cy="0.0"/>
          </a:xfrm>
          <a:prstGeom prst="line">
            <a:avLst/>
          </a:prstGeom>
          <a:ln w="6350">
            <a:solidFill>
              <a:srgbClr val="EDDF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" y="2011680"/>
            <a:ext cx="1280160" cy="36576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0" y="2377440"/>
            <a:ext cx="1188720" cy="73152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17520" y="2743200"/>
            <a:ext cx="1188720" cy="36576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06240" y="2743200"/>
            <a:ext cx="1280160" cy="73152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3474720"/>
            <a:ext cx="1371600" cy="54864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" y="1554480"/>
            <a:ext cx="3017520" cy="1828800"/>
          </a:xfrm>
          <a:prstGeom prst="rect">
            <a:avLst/>
          </a:prstGeom>
          <a:solidFill>
            <a:srgbClr val="FFF0D0"/>
          </a:solidFill>
          <a:ln w="19050">
            <a:solidFill>
              <a:srgbClr val="D49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1554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D4920A"/>
                </a:solidFill>
                <a:latin typeface="Inter"/>
              </a:rPr>
              <a:t>Zone 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554480"/>
            <a:ext cx="3291840" cy="2194560"/>
          </a:xfrm>
          <a:prstGeom prst="rect">
            <a:avLst/>
          </a:prstGeom>
          <a:solidFill>
            <a:srgbClr val="E6F7E6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1554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7AE60"/>
                </a:solidFill>
                <a:latin typeface="Inter"/>
              </a:rPr>
              <a:t>Zone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520440"/>
            <a:ext cx="2286000" cy="2194560"/>
          </a:xfrm>
          <a:prstGeom prst="rect">
            <a:avLst/>
          </a:prstGeom>
          <a:solidFill>
            <a:srgbClr val="FDE6E6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E74C3C"/>
                </a:solidFill>
                <a:latin typeface="Inter"/>
              </a:rPr>
              <a:t>Zone 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3886200"/>
            <a:ext cx="4023360" cy="1828800"/>
          </a:xfrm>
          <a:prstGeom prst="rect">
            <a:avLst/>
          </a:prstGeom>
          <a:solidFill>
            <a:srgbClr val="E6F0FA"/>
          </a:solidFill>
          <a:ln w="190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38862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3498DB"/>
                </a:solidFill>
                <a:latin typeface="Inter"/>
              </a:rPr>
              <a:t>Zone D</a:t>
            </a:r>
          </a:p>
        </p:txBody>
      </p:sp>
      <p:sp>
        <p:nvSpPr>
          <p:cNvPr id="40" name="Oval 39"/>
          <p:cNvSpPr/>
          <p:nvPr/>
        </p:nvSpPr>
        <p:spPr>
          <a:xfrm>
            <a:off x="1325880" y="1965960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23160" y="2606040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03320" y="214884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92040" y="31546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89320" y="3520440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34440" y="39776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71800" y="47091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92040" y="489204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80760" y="4983480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828800" y="4572000"/>
            <a:ext cx="3200400" cy="18288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377440" y="2194560"/>
            <a:ext cx="2194560" cy="91440"/>
          </a:xfrm>
          <a:prstGeom prst="line">
            <a:avLst/>
          </a:prstGeom>
          <a:ln w="508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22960" y="3108960"/>
            <a:ext cx="5120640" cy="182880"/>
          </a:xfrm>
          <a:prstGeom prst="line">
            <a:avLst/>
          </a:prstGeom>
          <a:ln w="889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10058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Carte interactive (Leaflet + GeoDjango)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1280160"/>
            <a:ext cx="4297680" cy="5212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D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1417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Inter"/>
              </a:rPr>
              <a:t>Couches affichables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18745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1856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1920240"/>
            <a:ext cx="182880" cy="18288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1874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228600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2267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2331720"/>
            <a:ext cx="182880" cy="18288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Périmètres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269748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26791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2743200"/>
            <a:ext cx="182880" cy="1828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2697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Canaux &amp; séguias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310896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30906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Inter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38160" y="3154680"/>
            <a:ext cx="182880" cy="1828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Découpage admin.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352044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3566160"/>
            <a:ext cx="182880" cy="1828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Score / état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3931920"/>
            <a:ext cx="27432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38160" y="3977640"/>
            <a:ext cx="182880" cy="182880"/>
          </a:xfrm>
          <a:prstGeom prst="rect">
            <a:avLst/>
          </a:prstGeom>
          <a:solidFill>
            <a:srgbClr val="FF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3931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Couches d'analyse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44805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Légende  -  Canaux (épaisseur = débit)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863840" y="4983480"/>
            <a:ext cx="109728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144000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nter"/>
              </a:rPr>
              <a:t>Faible débit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863840" y="5303520"/>
            <a:ext cx="1097280" cy="0"/>
          </a:xfrm>
          <a:prstGeom prst="line">
            <a:avLst/>
          </a:prstGeom>
          <a:ln w="508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144000" y="5138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nter"/>
              </a:rPr>
              <a:t>Moyen débit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3840" y="5623560"/>
            <a:ext cx="1097280" cy="0"/>
          </a:xfrm>
          <a:prstGeom prst="line">
            <a:avLst/>
          </a:prstGeom>
          <a:ln w="889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144000" y="5458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nter"/>
              </a:rPr>
              <a:t>Fort débit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Requêtes  -  Simples &amp; Évoluées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Filtrage  -  Croisement  -  Analyse spatiale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57784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77840" cy="64008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REQUÊTES SIMPLES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1 critère  →  Liste filtrée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645920" cy="64008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Filtre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971800"/>
            <a:ext cx="640080" cy="0"/>
          </a:xfrm>
          <a:prstGeom prst="line">
            <a:avLst/>
          </a:prstGeom>
          <a:ln w="2540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08960" y="26517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Résultats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52044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par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93192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par état (bon / mauvais)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34340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par périmètre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75488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54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par commune / cercle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16636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166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Canaux par débit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371600"/>
            <a:ext cx="557784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371600"/>
            <a:ext cx="5577840" cy="640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3716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REQUÊTES ÉVOLUÉES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80"/>
                </a:solidFill>
                <a:latin typeface="Inter"/>
              </a:rPr>
              <a:t>Plusieurs critères  +  Spatial  →  Croisements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69748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Critère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Critère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70332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Spatial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0" y="3200400"/>
            <a:ext cx="914400" cy="91440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2004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  <a:latin typeface="Inter"/>
              </a:rPr>
              <a:t>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80960" y="2898648"/>
            <a:ext cx="1463040" cy="758952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60" y="3401568"/>
            <a:ext cx="1463040" cy="256032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80960" y="3657600"/>
            <a:ext cx="1463040" cy="246888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58400" y="3657600"/>
            <a:ext cx="73152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789920" y="33832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Carte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572000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en mauvais état dans une commune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937760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4937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Canaux à fort débit + faible efficience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303520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5303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Ouvrages dans rayon X km d'un seuil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669280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Inter"/>
              </a:rPr>
              <a:t>Périmètres à déficit hydrique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Score des ouvrages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Évaluation visuelle  -  ÉTAT uniquement (pas dimensionnement)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206654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Critique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0-20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0944" y="1828800"/>
            <a:ext cx="2066544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182880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Mauvais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24028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21-40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1828800"/>
            <a:ext cx="2066544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82880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24028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41-60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4032" y="1828800"/>
            <a:ext cx="2066544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82880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Bon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24028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61-80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0576" y="1828800"/>
            <a:ext cx="206654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182880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Excellent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240280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81-100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2971800"/>
            <a:ext cx="1033272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30175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80"/>
                </a:solidFill>
                <a:latin typeface="Inter"/>
              </a:rPr>
              <a:t>Score croissant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Inter"/>
              </a:rPr>
              <a:t>Critères évalués (entrées)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887" y="4114800"/>
            <a:ext cx="2560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0887" y="4114800"/>
            <a:ext cx="2560320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887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327" y="45262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Fissures, érosion, déformation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087" y="4114800"/>
            <a:ext cx="2560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44087" y="4114800"/>
            <a:ext cx="2560320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4087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Fonctionnement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5527" y="45262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Capacité de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4114800"/>
            <a:ext cx="2560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7287" y="4114800"/>
            <a:ext cx="2560320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7287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8727" y="45262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Historique d'entretien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0487" y="4114800"/>
            <a:ext cx="2560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30487" y="4114800"/>
            <a:ext cx="2560320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0487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Sécurité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1927" y="45262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Risques associés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981047.0" y="5166360"/>
            <a:ext cx="4099713.0" cy="411480"/>
          </a:xfrm>
          <a:prstGeom prst="line">
            <a:avLst/>
          </a:prstGeom>
          <a:ln w="1905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24247.0" y="5166360"/>
            <a:ext cx="1356513.0" cy="411480"/>
          </a:xfrm>
          <a:prstGeom prst="line">
            <a:avLst/>
          </a:prstGeom>
          <a:ln w="1905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080760" y="5166360"/>
            <a:ext cx="1386687.0" cy="411480"/>
          </a:xfrm>
          <a:prstGeom prst="line">
            <a:avLst/>
          </a:prstGeom>
          <a:ln w="1905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080760" y="5166360"/>
            <a:ext cx="4129887.0" cy="411480"/>
          </a:xfrm>
          <a:prstGeom prst="line">
            <a:avLst/>
          </a:prstGeom>
          <a:ln w="1905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937760" y="5577840"/>
            <a:ext cx="2286000" cy="73152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 w="317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800" b="1">
                <a:solidFill>
                  <a:srgbClr val="1A1A2E"/>
                </a:solidFill>
                <a:latin typeface="Inter"/>
              </a:rPr>
              <a:t>SCORE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557784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L'ÉTAT, pas le dimensionnement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Découpage administratif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Filtrer  -  Agréger  -  Localiser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447" y="128016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447" y="12801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RÉGION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6887" y="1280160"/>
            <a:ext cx="8595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Inter"/>
              </a:rPr>
              <a:t>Drâa-Tafilalet</a:t>
            </a:r>
          </a:p>
        </p:txBody>
      </p:sp>
      <p:sp>
        <p:nvSpPr>
          <p:cNvPr id="14" name="Oval 13"/>
          <p:cNvSpPr/>
          <p:nvPr/>
        </p:nvSpPr>
        <p:spPr>
          <a:xfrm>
            <a:off x="60807" y="1444752"/>
            <a:ext cx="365760" cy="36576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" y="14447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  <a:latin typeface="Inter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1965960"/>
            <a:ext cx="0" cy="182880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52447" y="2148840"/>
            <a:ext cx="8686800" cy="6858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2447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PROVINCE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9887" y="2148840"/>
            <a:ext cx="6309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Inter"/>
              </a:rPr>
              <a:t>Errachidia / Tinghir</a:t>
            </a:r>
          </a:p>
        </p:txBody>
      </p:sp>
      <p:sp>
        <p:nvSpPr>
          <p:cNvPr id="20" name="Oval 19"/>
          <p:cNvSpPr/>
          <p:nvPr/>
        </p:nvSpPr>
        <p:spPr>
          <a:xfrm>
            <a:off x="1203807" y="2313432"/>
            <a:ext cx="365760" cy="36576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3807" y="2313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  <a:latin typeface="Inter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5847" y="2834640"/>
            <a:ext cx="0" cy="182880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95447" y="301752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5447" y="30175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CERCLE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2887" y="301752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Inter"/>
              </a:rPr>
              <a:t>Plusieurs cercles</a:t>
            </a:r>
          </a:p>
        </p:txBody>
      </p:sp>
      <p:sp>
        <p:nvSpPr>
          <p:cNvPr id="26" name="Oval 25"/>
          <p:cNvSpPr/>
          <p:nvPr/>
        </p:nvSpPr>
        <p:spPr>
          <a:xfrm>
            <a:off x="2346807" y="3182112"/>
            <a:ext cx="365760" cy="36576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6807" y="3182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  <a:latin typeface="Inter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847" y="3703320"/>
            <a:ext cx="0" cy="182880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38447" y="3886200"/>
            <a:ext cx="4114800" cy="6858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38447" y="388620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COMMUNE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38862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Inter"/>
              </a:rPr>
              <a:t>Communes rurales</a:t>
            </a:r>
          </a:p>
        </p:txBody>
      </p:sp>
      <p:sp>
        <p:nvSpPr>
          <p:cNvPr id="32" name="Oval 31"/>
          <p:cNvSpPr/>
          <p:nvPr/>
        </p:nvSpPr>
        <p:spPr>
          <a:xfrm>
            <a:off x="3489807" y="4050792"/>
            <a:ext cx="365760" cy="36576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9807" y="4050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  <a:latin typeface="Inter"/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5847" y="4572000"/>
            <a:ext cx="0" cy="182880"/>
          </a:xfrm>
          <a:prstGeom prst="line">
            <a:avLst/>
          </a:prstGeom>
          <a:ln w="190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952847" y="47548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2847" y="4754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PÉRIMÈTRE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0287" y="4754880"/>
            <a:ext cx="-91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Inter"/>
              </a:rPr>
              <a:t>Unité opérationnelle</a:t>
            </a:r>
          </a:p>
        </p:txBody>
      </p:sp>
      <p:sp>
        <p:nvSpPr>
          <p:cNvPr id="38" name="Oval 37"/>
          <p:cNvSpPr/>
          <p:nvPr/>
        </p:nvSpPr>
        <p:spPr>
          <a:xfrm>
            <a:off x="4404207" y="4919472"/>
            <a:ext cx="365760" cy="36576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4207" y="4919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  <a:latin typeface="Inter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86400"/>
            <a:ext cx="11338560" cy="9144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Utilité du découpage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0887" y="585216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Filtrer la carte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8487" y="585216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Agréger les indicateurs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6087" y="585216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100" b="1">
                <a:solidFill>
                  <a:srgbClr val="1A1A2E"/>
                </a:solidFill>
                <a:latin typeface="Inter"/>
              </a:rPr>
              <a:t>Croiser avec ouvrages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Visualisation symbolisée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Ex. : épaisseur du canal  ∝  débit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6647" y="1463040"/>
            <a:ext cx="320040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6647" y="1463040"/>
            <a:ext cx="3200400" cy="5029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Faible débit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47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80"/>
                </a:solidFill>
                <a:latin typeface="Inter"/>
              </a:rPr>
              <a:t>Q &lt; 0.5 m³/s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0967" y="2423160"/>
            <a:ext cx="2651760" cy="1554480"/>
          </a:xfrm>
          <a:prstGeom prst="rect">
            <a:avLst/>
          </a:prstGeom>
          <a:solidFill>
            <a:srgbClr val="FFF8EE"/>
          </a:solidFill>
          <a:ln w="12700">
            <a:solidFill>
              <a:srgbClr val="ED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523847" y="2743200"/>
            <a:ext cx="2286000" cy="100584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409547" y="2628900"/>
            <a:ext cx="228600" cy="22860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5547" y="3634740"/>
            <a:ext cx="228600" cy="22860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647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98DB"/>
                </a:solidFill>
                <a:latin typeface="Inter"/>
              </a:rPr>
              <a:t>Épaisseur : 2 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5647" y="1463040"/>
            <a:ext cx="320040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5647" y="1463040"/>
            <a:ext cx="3200400" cy="5029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647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Moyen débit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80"/>
                </a:solidFill>
                <a:latin typeface="Inter"/>
              </a:rPr>
              <a:t>0.5 ≤ Q &lt;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9967" y="2423160"/>
            <a:ext cx="2651760" cy="1554480"/>
          </a:xfrm>
          <a:prstGeom prst="rect">
            <a:avLst/>
          </a:prstGeom>
          <a:solidFill>
            <a:srgbClr val="FFF8EE"/>
          </a:solidFill>
          <a:ln w="12700">
            <a:solidFill>
              <a:srgbClr val="ED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952847" y="2743200"/>
            <a:ext cx="2286000" cy="1005840"/>
          </a:xfrm>
          <a:prstGeom prst="line">
            <a:avLst/>
          </a:prstGeom>
          <a:ln w="635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38547" y="2628900"/>
            <a:ext cx="228600" cy="22860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24547" y="3634740"/>
            <a:ext cx="228600" cy="22860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647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  <a:latin typeface="Inter"/>
              </a:rPr>
              <a:t>Épaisseur : 5 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4647" y="1463040"/>
            <a:ext cx="320040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4647" y="1463040"/>
            <a:ext cx="3200400" cy="5029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4647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Fort débit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647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80"/>
                </a:solidFill>
                <a:latin typeface="Inter"/>
              </a:rPr>
              <a:t>Q ≥ 2 m³/s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8967" y="2423160"/>
            <a:ext cx="2651760" cy="1554480"/>
          </a:xfrm>
          <a:prstGeom prst="rect">
            <a:avLst/>
          </a:prstGeom>
          <a:solidFill>
            <a:srgbClr val="FFF8EE"/>
          </a:solidFill>
          <a:ln w="12700">
            <a:solidFill>
              <a:srgbClr val="ED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381847" y="2743200"/>
            <a:ext cx="2286000" cy="1005840"/>
          </a:xfrm>
          <a:prstGeom prst="line">
            <a:avLst/>
          </a:prstGeom>
          <a:ln w="1270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67547" y="2628900"/>
            <a:ext cx="228600" cy="22860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53547" y="3634740"/>
            <a:ext cx="228600" cy="22860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4647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Inter"/>
              </a:rPr>
              <a:t>Épaisseur : 10 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Inter"/>
              </a:rPr>
              <a:t>Autres dimensions visuelles utilisées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9427" y="4937760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49527" y="5120640"/>
            <a:ext cx="548640" cy="5486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427" y="5715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Couleur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427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80"/>
                </a:solidFill>
                <a:latin typeface="Inter"/>
              </a:rPr>
              <a:t>État de l'ouvrage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35427" y="4937760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35527" y="5120640"/>
            <a:ext cx="548640" cy="54864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35427" y="5715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498DB"/>
                </a:solidFill>
                <a:latin typeface="Inter"/>
              </a:rPr>
              <a:t>Taille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5427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80"/>
                </a:solidFill>
                <a:latin typeface="Inter"/>
              </a:rPr>
              <a:t>Importance / capacité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1427" y="4937760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21527" y="5120640"/>
            <a:ext cx="54864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1427" y="5715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Inter"/>
              </a:rPr>
              <a:t>Forme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1427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80"/>
                </a:solidFill>
                <a:latin typeface="Inter"/>
              </a:rPr>
              <a:t>Type d'ouvrage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07427" y="4937760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07527" y="5120640"/>
            <a:ext cx="54864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07427" y="5715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Inter"/>
              </a:rPr>
              <a:t>Étiquette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07427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80"/>
                </a:solidFill>
                <a:latin typeface="Inter"/>
              </a:rPr>
              <a:t>Nom ou ID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93427" y="4937760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393527" y="5120640"/>
            <a:ext cx="54864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93427" y="5715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Inter"/>
              </a:rPr>
              <a:t>Opacité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93427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80"/>
                </a:solidFill>
                <a:latin typeface="Inter"/>
              </a:rPr>
              <a:t>Confiance / actif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App Dimensionnement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Conception  -  Calage  -  Vérification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432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ENTRÉES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" y="2231136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Débits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31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Q de projet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" y="2871216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Hauteur d'eau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71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Plan d'eau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" y="3511296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Topographie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11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Profil terrain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" y="4151376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77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Sol / fondation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519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Caractéristiques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" y="4791456"/>
            <a:ext cx="201168" cy="201168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Contraintes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Hydrauliques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91840" y="3566160"/>
            <a:ext cx="777240" cy="0"/>
          </a:xfrm>
          <a:prstGeom prst="line">
            <a:avLst/>
          </a:prstGeom>
          <a:ln w="3810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14800" y="1828800"/>
            <a:ext cx="3931920" cy="347472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196596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Inter"/>
              </a:rPr>
              <a:t>MODULE DE CALCUL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606040"/>
            <a:ext cx="3017520" cy="2560320"/>
          </a:xfrm>
          <a:prstGeom prst="roundRect">
            <a:avLst>
              <a:gd name="adj" fmla="val 12000"/>
            </a:avLst>
          </a:prstGeom>
          <a:solidFill>
            <a:srgbClr val="2A2A44"/>
          </a:solidFill>
          <a:ln w="190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54880" y="274320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74320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Calage hydraulique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3218688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2186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Géométrie / forme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3694176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369417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Fondation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4169664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416966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Stabilité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4645152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464515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Inter"/>
              </a:rPr>
              <a:t>Vérifications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38160" y="3566160"/>
            <a:ext cx="777240" cy="0"/>
          </a:xfrm>
          <a:prstGeom prst="line">
            <a:avLst/>
          </a:prstGeom>
          <a:ln w="3810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006840" y="1371600"/>
            <a:ext cx="27432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1371600"/>
            <a:ext cx="27432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1371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SORTIES</a:t>
            </a:r>
          </a:p>
        </p:txBody>
      </p:sp>
      <p:sp>
        <p:nvSpPr>
          <p:cNvPr id="47" name="Oval 46"/>
          <p:cNvSpPr/>
          <p:nvPr/>
        </p:nvSpPr>
        <p:spPr>
          <a:xfrm>
            <a:off x="9180576" y="223113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Dimensions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2331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Largeur, hauteur</a:t>
            </a:r>
          </a:p>
        </p:txBody>
      </p:sp>
      <p:sp>
        <p:nvSpPr>
          <p:cNvPr id="50" name="Oval 49"/>
          <p:cNvSpPr/>
          <p:nvPr/>
        </p:nvSpPr>
        <p:spPr>
          <a:xfrm>
            <a:off x="9180576" y="287121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Plan / coupe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2971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Schémas</a:t>
            </a:r>
          </a:p>
        </p:txBody>
      </p:sp>
      <p:sp>
        <p:nvSpPr>
          <p:cNvPr id="53" name="Oval 52"/>
          <p:cNvSpPr/>
          <p:nvPr/>
        </p:nvSpPr>
        <p:spPr>
          <a:xfrm>
            <a:off x="9180576" y="351129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3337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Stabilité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3611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OK / NON OK</a:t>
            </a:r>
          </a:p>
        </p:txBody>
      </p:sp>
      <p:sp>
        <p:nvSpPr>
          <p:cNvPr id="56" name="Oval 55"/>
          <p:cNvSpPr/>
          <p:nvPr/>
        </p:nvSpPr>
        <p:spPr>
          <a:xfrm>
            <a:off x="9180576" y="415137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977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Note de calcul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42519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Rapport</a:t>
            </a:r>
          </a:p>
        </p:txBody>
      </p:sp>
      <p:sp>
        <p:nvSpPr>
          <p:cNvPr id="59" name="Oval 58"/>
          <p:cNvSpPr/>
          <p:nvPr/>
        </p:nvSpPr>
        <p:spPr>
          <a:xfrm>
            <a:off x="9180576" y="479145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4617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Estimation coût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8920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80"/>
                </a:solidFill>
                <a:latin typeface="Inter"/>
              </a:rPr>
              <a:t>Quantitatif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0" y="5943600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Accessible à l'OPÉRATEUR uniquement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Dimensionnement des seuils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Calage  -  Forme  -  Fondation  -  Stabilité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103120"/>
            <a:ext cx="4846320" cy="3108960"/>
          </a:xfrm>
          <a:prstGeom prst="rect">
            <a:avLst/>
          </a:prstGeom>
          <a:solidFill>
            <a:srgbClr val="FFF8EE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2651760"/>
            <a:ext cx="1645920" cy="1188720"/>
          </a:xfrm>
          <a:prstGeom prst="rect">
            <a:avLst/>
          </a:prstGeom>
          <a:solidFill>
            <a:srgbClr val="AE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651760"/>
            <a:ext cx="164592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0" y="2468880"/>
            <a:ext cx="914400" cy="1737360"/>
          </a:xfrm>
          <a:prstGeom prst="rect">
            <a:avLst/>
          </a:prstGeom>
          <a:solidFill>
            <a:srgbClr val="F0A500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488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1A1A2E"/>
                </a:solidFill>
                <a:latin typeface="Inter"/>
              </a:rPr>
              <a:t>Crête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400800" y="2468880"/>
            <a:ext cx="1371600" cy="914400"/>
          </a:xfrm>
          <a:prstGeom prst="rtTriangle">
            <a:avLst/>
          </a:prstGeom>
          <a:solidFill>
            <a:srgbClr val="AE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1828800" cy="548640"/>
          </a:xfrm>
          <a:prstGeom prst="rect">
            <a:avLst/>
          </a:prstGeom>
          <a:solidFill>
            <a:srgbClr val="AED6F1"/>
          </a:solidFill>
          <a:ln w="190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6B6B80"/>
                </a:solidFill>
                <a:latin typeface="Inter"/>
              </a:rPr>
              <a:t>Bassin de dissipation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4206240"/>
            <a:ext cx="4572000" cy="777240"/>
          </a:xfrm>
          <a:prstGeom prst="rect">
            <a:avLst/>
          </a:prstGeom>
          <a:solidFill>
            <a:srgbClr val="C9B38A"/>
          </a:solidFill>
          <a:ln w="1905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  <a:latin typeface="Inter"/>
              </a:rPr>
              <a:t>Fondation / 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3498DB"/>
                </a:solidFill>
                <a:latin typeface="Inter"/>
              </a:rPr>
              <a:t>Eau amont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011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Inter"/>
              </a:rPr>
              <a:t>Coupe transversale - seuil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3716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371600"/>
            <a:ext cx="3017520" cy="5029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371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CALAGE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Inter"/>
              </a:rPr>
              <a:t>Hauteur / cote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3716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1371600"/>
            <a:ext cx="3017520" cy="5029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371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FORME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Inter"/>
              </a:rPr>
              <a:t>Géométrie / profil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3192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017520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FONDATION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80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Inter"/>
              </a:rPr>
              <a:t>Sol / encrage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393192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0" y="3931920"/>
            <a:ext cx="3017520" cy="5029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STABILITÉ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480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Inter"/>
              </a:rPr>
              <a:t>Glissement / renversement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74720" y="2057400"/>
            <a:ext cx="1280160" cy="502920"/>
          </a:xfrm>
          <a:prstGeom prst="line">
            <a:avLst/>
          </a:prstGeom>
          <a:ln w="19050">
            <a:solidFill>
              <a:srgbClr val="3498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772400" y="2057400"/>
            <a:ext cx="914400" cy="502920"/>
          </a:xfrm>
          <a:prstGeom prst="line">
            <a:avLst/>
          </a:prstGeom>
          <a:ln w="19050">
            <a:solidFill>
              <a:srgbClr val="F0A5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74720" y="4572000"/>
            <a:ext cx="1097280" cy="91440"/>
          </a:xfrm>
          <a:prstGeom prst="line">
            <a:avLst/>
          </a:prstGeom>
          <a:ln w="19050">
            <a:solidFill>
              <a:srgbClr val="27AE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772400" y="4572000"/>
            <a:ext cx="914400" cy="91440"/>
          </a:xfrm>
          <a:prstGeom prst="line">
            <a:avLst/>
          </a:prstGeom>
          <a:ln w="19050">
            <a:solidFill>
              <a:srgbClr val="E74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57200" y="5760720"/>
            <a:ext cx="11338560" cy="64008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7607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Inter"/>
              </a:rPr>
              <a:t>Analyse de stabilité  →  Vérifications réglementaires  → 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Plan d'action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Du diagnostic à la décision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927" y="1371600"/>
            <a:ext cx="320040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0927" y="1371600"/>
            <a:ext cx="3200400" cy="640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927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CONSTAT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FFF8EE"/>
                </a:solidFill>
                <a:latin typeface="Inter"/>
              </a:rPr>
              <a:t>Issues du Diagnostic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5247" y="228600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32407" y="2514600"/>
            <a:ext cx="182880" cy="1828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98167" y="24505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Ouvrages dégradés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5247" y="306324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32407" y="3291840"/>
            <a:ext cx="182880" cy="1828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8167" y="32278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Périmètres à risque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5247" y="384048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32407" y="4069080"/>
            <a:ext cx="182880" cy="1828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98167" y="40050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Pertes du réseau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21327" y="3200400"/>
            <a:ext cx="27432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95647" y="1371600"/>
            <a:ext cx="320040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95647" y="1371600"/>
            <a:ext cx="3200400" cy="64008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647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PRIORISATION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FFF8EE"/>
                </a:solidFill>
                <a:latin typeface="Inter"/>
              </a:rPr>
              <a:t>Score &amp; criticité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69967" y="228600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07127" y="2514600"/>
            <a:ext cx="182880" cy="18288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2887" y="24505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Tri par criticité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9967" y="306324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07127" y="3291840"/>
            <a:ext cx="182880" cy="18288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2887" y="32278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Filtrage admin.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9967" y="384048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07127" y="4069080"/>
            <a:ext cx="182880" cy="18288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2887" y="40050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Estimation coût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96047" y="3200400"/>
            <a:ext cx="274320" cy="0"/>
          </a:xfrm>
          <a:prstGeom prst="line">
            <a:avLst/>
          </a:prstGeom>
          <a:ln w="31750">
            <a:solidFill>
              <a:srgbClr val="1A1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970367" y="1371600"/>
            <a:ext cx="320040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367" y="1371600"/>
            <a:ext cx="3200400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0367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0367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FFF8EE"/>
                </a:solidFill>
                <a:latin typeface="Inter"/>
              </a:rPr>
              <a:t>Actions à mener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4687" y="228600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81847" y="251460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47607" y="24505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Réhabilitations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4687" y="306324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81847" y="329184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47607" y="32278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Nouvelles réalisations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44687" y="384048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FFF8EE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81847" y="406908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7607" y="40050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Inter"/>
              </a:rPr>
              <a:t>Maintenance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669280"/>
            <a:ext cx="11338560" cy="77724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71500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Le plan d'action est piloté par l'opérateur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FFF8EE"/>
                </a:solidFill>
                <a:latin typeface="Inter"/>
              </a:rPr>
              <a:t>Visible et exportable depuis la plateforme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468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A1A2E"/>
                </a:solidFill>
                <a:latin typeface="Inter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Plan d'action  -  Outils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D989"/>
                </a:solidFill>
                <a:latin typeface="Inter"/>
              </a:rPr>
              <a:t>Gestion  -  Suivi  - 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D989"/>
                </a:solidFill>
                <a:latin typeface="Inter"/>
              </a:rPr>
              <a:t>Présentation PFE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128016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5167" y="1280160"/>
            <a:ext cx="365760" cy="21031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5247" y="1737360"/>
            <a:ext cx="1188720" cy="118872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5247" y="173736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Inter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6847" y="17830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3498DB"/>
                </a:solidFill>
                <a:latin typeface="Inter"/>
              </a:rPr>
              <a:t>Calendrier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6847" y="2423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B80"/>
                </a:solidFill>
                <a:latin typeface="Inter"/>
              </a:rPr>
              <a:t>Planification dans le temps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28016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280160"/>
            <a:ext cx="365760" cy="2103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73087" y="1737360"/>
            <a:ext cx="1188720" cy="11887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3087" y="173736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Inter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687" y="17830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0A500"/>
                </a:solidFill>
                <a:latin typeface="Inter"/>
              </a:rPr>
              <a:t>Suivi d'avancement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687" y="2423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B80"/>
                </a:solidFill>
                <a:latin typeface="Inter"/>
              </a:rPr>
              <a:t>Taux &amp; jalons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" y="365760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167" y="3657600"/>
            <a:ext cx="365760" cy="21031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95247" y="4114800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5247" y="41148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Inter"/>
              </a:rPr>
              <a:t>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6847" y="41605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Inter"/>
              </a:rPr>
              <a:t>Carte d'intervention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6847" y="480060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B80"/>
                </a:solidFill>
                <a:latin typeface="Inter"/>
              </a:rPr>
              <a:t>Localisation des chantiers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65760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657600"/>
            <a:ext cx="365760" cy="21031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3087" y="4114800"/>
            <a:ext cx="1188720" cy="118872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3087" y="41148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Inter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4687" y="41605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Inter"/>
              </a:rPr>
              <a:t>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4687" y="480060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B80"/>
                </a:solidFill>
                <a:latin typeface="Inter"/>
              </a:rPr>
              <a:t>Tableaux de bord &amp; exports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60720"/>
            <a:ext cx="11338560" cy="6858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254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0644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Inter"/>
              </a:rPr>
              <a:t>Boucle de mise à jour permanente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01087" y="608076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Diagnostic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29887" y="6236208"/>
            <a:ext cx="914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221327" y="608076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Plan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50127" y="6236208"/>
            <a:ext cx="914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141567" y="608076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Action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70367" y="6236208"/>
            <a:ext cx="914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61807" y="608076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Suivi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Inter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F0A500"/>
                </a:solidFill>
                <a:latin typeface="Inter"/>
              </a:rPr>
              <a:t>Questions  &amp;  Démo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927" y="42976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Diagnostic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1167" y="4617720"/>
            <a:ext cx="137160" cy="0"/>
          </a:xfrm>
          <a:prstGeom prst="line">
            <a:avLst/>
          </a:prstGeom>
          <a:ln w="2540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78327" y="42976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Analyse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98567" y="4617720"/>
            <a:ext cx="137160" cy="0"/>
          </a:xfrm>
          <a:prstGeom prst="line">
            <a:avLst/>
          </a:prstGeom>
          <a:ln w="2540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35727" y="42976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Carte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55967" y="4617720"/>
            <a:ext cx="137160" cy="0"/>
          </a:xfrm>
          <a:prstGeom prst="line">
            <a:avLst/>
          </a:prstGeom>
          <a:ln w="2540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3127" y="42976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Dimensionnement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13367" y="4617720"/>
            <a:ext cx="137160" cy="0"/>
          </a:xfrm>
          <a:prstGeom prst="line">
            <a:avLst/>
          </a:prstGeom>
          <a:ln w="25400">
            <a:solidFill>
              <a:srgbClr val="F0A5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50527" y="42976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30000" bIns="30000"/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FFD989"/>
                </a:solidFill>
                <a:latin typeface="Inter"/>
              </a:rPr>
              <a:t>HydroPlan SIG  -  ORMVA Tafilalet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